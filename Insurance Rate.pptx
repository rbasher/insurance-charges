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CE9FC9-FECE-4AF1-B5E3-872547ACBB62}">
  <a:tblStyle styleId="{4FCE9FC9-FECE-4AF1-B5E3-872547ACBB6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53"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f85654271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f85654271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ef8565427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ef8565427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ef85654271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ef8565427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ef8565427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ef85654271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ef85654271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ef8565427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ef85654271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ef8565427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ef8565427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ef8565427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ef85654271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ef85654271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ef85654271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ef8565427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78125" y="251300"/>
            <a:ext cx="2571900" cy="450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100" b="1" dirty="0">
              <a:solidFill>
                <a:schemeClr val="tx1"/>
              </a:solidFill>
            </a:endParaRPr>
          </a:p>
          <a:p>
            <a:pPr marL="0" lvl="0" indent="0" algn="l" rtl="0">
              <a:spcBef>
                <a:spcPts val="0"/>
              </a:spcBef>
              <a:spcAft>
                <a:spcPts val="0"/>
              </a:spcAft>
              <a:buNone/>
            </a:pPr>
            <a:endParaRPr sz="3100" b="1" dirty="0">
              <a:solidFill>
                <a:schemeClr val="dk2"/>
              </a:solidFill>
            </a:endParaRPr>
          </a:p>
          <a:p>
            <a:pPr marL="0" lvl="0" indent="0" algn="l" rtl="0">
              <a:spcBef>
                <a:spcPts val="0"/>
              </a:spcBef>
              <a:spcAft>
                <a:spcPts val="0"/>
              </a:spcAft>
              <a:buNone/>
            </a:pPr>
            <a:endParaRPr sz="3100" b="1" dirty="0">
              <a:solidFill>
                <a:schemeClr val="dk2"/>
              </a:solidFill>
            </a:endParaRPr>
          </a:p>
          <a:p>
            <a:pPr marL="0" lvl="0" indent="0" algn="l" rtl="0">
              <a:spcBef>
                <a:spcPts val="0"/>
              </a:spcBef>
              <a:spcAft>
                <a:spcPts val="0"/>
              </a:spcAft>
              <a:buNone/>
            </a:pPr>
            <a:r>
              <a:rPr lang="en" sz="3100" b="1" dirty="0">
                <a:solidFill>
                  <a:schemeClr val="tx1"/>
                </a:solidFill>
              </a:rPr>
              <a:t>Insurance </a:t>
            </a:r>
            <a:endParaRPr sz="3100" b="1" dirty="0">
              <a:solidFill>
                <a:schemeClr val="tx1"/>
              </a:solidFill>
            </a:endParaRPr>
          </a:p>
          <a:p>
            <a:pPr marL="0" lvl="0" indent="0" algn="l" rtl="0">
              <a:spcBef>
                <a:spcPts val="0"/>
              </a:spcBef>
              <a:spcAft>
                <a:spcPts val="0"/>
              </a:spcAft>
              <a:buNone/>
            </a:pPr>
            <a:r>
              <a:rPr lang="en" sz="3100" b="1" dirty="0">
                <a:solidFill>
                  <a:schemeClr val="tx1"/>
                </a:solidFill>
              </a:rPr>
              <a:t>Rate</a:t>
            </a:r>
            <a:endParaRPr sz="3100" b="1" dirty="0">
              <a:solidFill>
                <a:schemeClr val="tx1"/>
              </a:solidFill>
            </a:endParaRPr>
          </a:p>
        </p:txBody>
      </p:sp>
      <p:sp>
        <p:nvSpPr>
          <p:cNvPr id="55" name="Google Shape;55;p13"/>
          <p:cNvSpPr txBox="1"/>
          <p:nvPr/>
        </p:nvSpPr>
        <p:spPr>
          <a:xfrm>
            <a:off x="2464350" y="216075"/>
            <a:ext cx="6439200" cy="46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tx1"/>
                </a:solidFill>
              </a:rPr>
              <a:t>Problem Statement:</a:t>
            </a:r>
            <a:r>
              <a:rPr lang="en" sz="1800" dirty="0">
                <a:solidFill>
                  <a:schemeClr val="tx1"/>
                </a:solidFill>
              </a:rPr>
              <a:t>Management wants have better informed insurance agents.</a:t>
            </a:r>
            <a:endParaRPr sz="1800" dirty="0">
              <a:solidFill>
                <a:schemeClr val="tx1"/>
              </a:solidFill>
            </a:endParaRPr>
          </a:p>
          <a:p>
            <a:pPr marL="0" lvl="0" indent="0" algn="l" rtl="0">
              <a:spcBef>
                <a:spcPts val="0"/>
              </a:spcBef>
              <a:spcAft>
                <a:spcPts val="0"/>
              </a:spcAft>
              <a:buNone/>
            </a:pPr>
            <a:endParaRPr sz="1800" dirty="0">
              <a:solidFill>
                <a:schemeClr val="tx1"/>
              </a:solidFill>
            </a:endParaRPr>
          </a:p>
          <a:p>
            <a:pPr marL="0" lvl="0" indent="0" algn="l" rtl="0">
              <a:spcBef>
                <a:spcPts val="0"/>
              </a:spcBef>
              <a:spcAft>
                <a:spcPts val="0"/>
              </a:spcAft>
              <a:buNone/>
            </a:pPr>
            <a:r>
              <a:rPr lang="en" sz="1800" b="1" dirty="0">
                <a:solidFill>
                  <a:schemeClr val="tx1"/>
                </a:solidFill>
              </a:rPr>
              <a:t>Goal:</a:t>
            </a:r>
            <a:r>
              <a:rPr lang="en" sz="1800" dirty="0">
                <a:solidFill>
                  <a:schemeClr val="tx1"/>
                </a:solidFill>
              </a:rPr>
              <a:t>Create a guid for the insurance agents </a:t>
            </a:r>
            <a:endParaRPr sz="1800" dirty="0">
              <a:solidFill>
                <a:schemeClr val="tx1"/>
              </a:solidFill>
            </a:endParaRPr>
          </a:p>
          <a:p>
            <a:pPr marL="0" lvl="0" indent="0" algn="l" rtl="0">
              <a:spcBef>
                <a:spcPts val="0"/>
              </a:spcBef>
              <a:spcAft>
                <a:spcPts val="0"/>
              </a:spcAft>
              <a:buNone/>
            </a:pPr>
            <a:r>
              <a:rPr lang="en" sz="1800" dirty="0">
                <a:solidFill>
                  <a:schemeClr val="tx1"/>
                </a:solidFill>
              </a:rPr>
              <a:t>To help insurance rates</a:t>
            </a:r>
            <a:endParaRPr sz="1800" dirty="0">
              <a:solidFill>
                <a:schemeClr val="tx1"/>
              </a:solidFill>
            </a:endParaRPr>
          </a:p>
          <a:p>
            <a:pPr marL="0" lvl="0" indent="0" algn="l" rtl="0">
              <a:spcBef>
                <a:spcPts val="0"/>
              </a:spcBef>
              <a:spcAft>
                <a:spcPts val="0"/>
              </a:spcAft>
              <a:buNone/>
            </a:pPr>
            <a:r>
              <a:rPr lang="en" sz="1800" dirty="0">
                <a:solidFill>
                  <a:schemeClr val="tx1"/>
                </a:solidFill>
              </a:rPr>
              <a:t>Based on customer characteristics</a:t>
            </a:r>
            <a:endParaRPr sz="1800" dirty="0">
              <a:solidFill>
                <a:schemeClr val="tx1"/>
              </a:solidFill>
            </a:endParaRPr>
          </a:p>
          <a:p>
            <a:pPr marL="0" lvl="0" indent="0" algn="l" rtl="0">
              <a:spcBef>
                <a:spcPts val="0"/>
              </a:spcBef>
              <a:spcAft>
                <a:spcPts val="0"/>
              </a:spcAft>
              <a:buNone/>
            </a:pPr>
            <a:endParaRPr sz="1800" dirty="0">
              <a:solidFill>
                <a:schemeClr val="tx1"/>
              </a:solidFill>
            </a:endParaRPr>
          </a:p>
          <a:p>
            <a:pPr marL="0" lvl="0" indent="0" algn="l" rtl="0">
              <a:spcBef>
                <a:spcPts val="0"/>
              </a:spcBef>
              <a:spcAft>
                <a:spcPts val="0"/>
              </a:spcAft>
              <a:buNone/>
            </a:pPr>
            <a:r>
              <a:rPr lang="en" sz="1800" b="1" dirty="0">
                <a:solidFill>
                  <a:schemeClr val="tx1"/>
                </a:solidFill>
              </a:rPr>
              <a:t>Task:Analysis: </a:t>
            </a:r>
            <a:r>
              <a:rPr lang="en" sz="1800" dirty="0">
                <a:solidFill>
                  <a:schemeClr val="tx1"/>
                </a:solidFill>
              </a:rPr>
              <a:t>Hypothesis, and create a data story on key influencers of the insurance rate</a:t>
            </a:r>
            <a:endParaRPr sz="1800" dirty="0">
              <a:solidFill>
                <a:schemeClr val="tx1"/>
              </a:solidFill>
            </a:endParaRPr>
          </a:p>
          <a:p>
            <a:pPr marL="0" lvl="0" indent="0" algn="l" rtl="0">
              <a:spcBef>
                <a:spcPts val="0"/>
              </a:spcBef>
              <a:spcAft>
                <a:spcPts val="0"/>
              </a:spcAft>
              <a:buNone/>
            </a:pPr>
            <a:endParaRPr sz="1800" dirty="0">
              <a:solidFill>
                <a:schemeClr val="tx1"/>
              </a:solidFill>
            </a:endParaRPr>
          </a:p>
          <a:p>
            <a:pPr marL="0" lvl="0" indent="0" algn="l" rtl="0">
              <a:spcBef>
                <a:spcPts val="0"/>
              </a:spcBef>
              <a:spcAft>
                <a:spcPts val="0"/>
              </a:spcAft>
              <a:buNone/>
            </a:pPr>
            <a:r>
              <a:rPr lang="en" sz="1800" b="1" dirty="0">
                <a:solidFill>
                  <a:schemeClr val="tx1"/>
                </a:solidFill>
              </a:rPr>
              <a:t>Data: </a:t>
            </a:r>
            <a:r>
              <a:rPr lang="en" sz="1800" dirty="0">
                <a:solidFill>
                  <a:schemeClr val="tx1"/>
                </a:solidFill>
              </a:rPr>
              <a:t>1300 customers</a:t>
            </a:r>
            <a:endParaRPr sz="1800" dirty="0">
              <a:solidFill>
                <a:schemeClr val="tx1"/>
              </a:solidFill>
            </a:endParaRPr>
          </a:p>
          <a:p>
            <a:pPr marL="0" lvl="0" indent="0" algn="l" rtl="0">
              <a:spcBef>
                <a:spcPts val="0"/>
              </a:spcBef>
              <a:spcAft>
                <a:spcPts val="0"/>
              </a:spcAft>
              <a:buNone/>
            </a:pPr>
            <a:endParaRPr sz="1800" dirty="0">
              <a:solidFill>
                <a:schemeClr val="tx1"/>
              </a:solidFill>
            </a:endParaRPr>
          </a:p>
          <a:p>
            <a:pPr marL="0" lvl="0" indent="0" algn="l" rtl="0">
              <a:spcBef>
                <a:spcPts val="0"/>
              </a:spcBef>
              <a:spcAft>
                <a:spcPts val="0"/>
              </a:spcAft>
              <a:buNone/>
            </a:pPr>
            <a:r>
              <a:rPr lang="en" sz="1800" b="1" dirty="0">
                <a:solidFill>
                  <a:schemeClr val="tx1"/>
                </a:solidFill>
              </a:rPr>
              <a:t>Questions from Management:</a:t>
            </a:r>
            <a:endParaRPr sz="1800" b="1" dirty="0">
              <a:solidFill>
                <a:schemeClr val="tx1"/>
              </a:solidFill>
            </a:endParaRPr>
          </a:p>
          <a:p>
            <a:pPr marL="0" lvl="0" indent="0" algn="l" rtl="0">
              <a:spcBef>
                <a:spcPts val="0"/>
              </a:spcBef>
              <a:spcAft>
                <a:spcPts val="0"/>
              </a:spcAft>
              <a:buNone/>
            </a:pPr>
            <a:r>
              <a:rPr lang="en" sz="1800" dirty="0">
                <a:solidFill>
                  <a:schemeClr val="tx1"/>
                </a:solidFill>
              </a:rPr>
              <a:t>1.What our customer typically look like?</a:t>
            </a:r>
            <a:endParaRPr sz="1800" dirty="0">
              <a:solidFill>
                <a:schemeClr val="tx1"/>
              </a:solidFill>
            </a:endParaRPr>
          </a:p>
          <a:p>
            <a:pPr marL="0" lvl="0" indent="0" algn="l" rtl="0">
              <a:spcBef>
                <a:spcPts val="0"/>
              </a:spcBef>
              <a:spcAft>
                <a:spcPts val="0"/>
              </a:spcAft>
              <a:buNone/>
            </a:pPr>
            <a:r>
              <a:rPr lang="en" sz="1800" dirty="0">
                <a:solidFill>
                  <a:schemeClr val="tx1"/>
                </a:solidFill>
              </a:rPr>
              <a:t>2.What customer traits raise or lower insurance rates?</a:t>
            </a:r>
            <a:endParaRPr sz="1800" dirty="0">
              <a:solidFill>
                <a:schemeClr val="tx1"/>
              </a:solidFill>
            </a:endParaRPr>
          </a:p>
          <a:p>
            <a:pPr marL="0" lvl="0" indent="0" algn="l" rtl="0">
              <a:spcBef>
                <a:spcPts val="0"/>
              </a:spcBef>
              <a:spcAft>
                <a:spcPts val="0"/>
              </a:spcAft>
              <a:buNone/>
            </a:pPr>
            <a:r>
              <a:rPr lang="en" sz="1800" dirty="0">
                <a:solidFill>
                  <a:schemeClr val="tx1"/>
                </a:solidFill>
              </a:rPr>
              <a:t>3. Do  we typically charge more by gender?</a:t>
            </a:r>
            <a:endParaRPr sz="1800" dirty="0">
              <a:solidFill>
                <a:schemeClr val="tx1"/>
              </a:solidFill>
            </a:endParaRPr>
          </a:p>
          <a:p>
            <a:pPr marL="0" lvl="0" indent="0" algn="l" rtl="0">
              <a:spcBef>
                <a:spcPts val="0"/>
              </a:spcBef>
              <a:spcAft>
                <a:spcPts val="0"/>
              </a:spcAft>
              <a:buNone/>
            </a:pPr>
            <a:r>
              <a:rPr lang="en" sz="1800" dirty="0">
                <a:solidFill>
                  <a:schemeClr val="tx1"/>
                </a:solidFill>
              </a:rPr>
              <a:t>4. What is the one trait that skyrockets cost?</a:t>
            </a:r>
            <a:endParaRPr sz="1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378125" y="251300"/>
            <a:ext cx="3692100" cy="450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r>
              <a:rPr lang="en" sz="3100" b="1">
                <a:solidFill>
                  <a:schemeClr val="dk2"/>
                </a:solidFill>
              </a:rPr>
              <a:t>Insight </a:t>
            </a:r>
            <a:endParaRPr sz="3100" b="1">
              <a:solidFill>
                <a:schemeClr val="dk2"/>
              </a:solidFill>
            </a:endParaRPr>
          </a:p>
          <a:p>
            <a:pPr marL="0" lvl="0" indent="0" algn="l" rtl="0">
              <a:spcBef>
                <a:spcPts val="0"/>
              </a:spcBef>
              <a:spcAft>
                <a:spcPts val="0"/>
              </a:spcAft>
              <a:buNone/>
            </a:pPr>
            <a:r>
              <a:rPr lang="en" sz="3100" b="1">
                <a:solidFill>
                  <a:schemeClr val="dk2"/>
                </a:solidFill>
              </a:rPr>
              <a:t>Development</a:t>
            </a:r>
            <a:endParaRPr sz="3100" b="1">
              <a:solidFill>
                <a:schemeClr val="dk2"/>
              </a:solidFill>
            </a:endParaRPr>
          </a:p>
        </p:txBody>
      </p:sp>
      <p:sp>
        <p:nvSpPr>
          <p:cNvPr id="61" name="Google Shape;61;p14"/>
          <p:cNvSpPr txBox="1"/>
          <p:nvPr/>
        </p:nvSpPr>
        <p:spPr>
          <a:xfrm>
            <a:off x="3196492" y="859692"/>
            <a:ext cx="6232033" cy="5059408"/>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AutoNum type="arabicPeriod"/>
            </a:pPr>
            <a:r>
              <a:rPr lang="en" sz="1800" dirty="0">
                <a:solidFill>
                  <a:schemeClr val="dk2"/>
                </a:solidFill>
              </a:rPr>
              <a:t>What is the goal of the business?</a:t>
            </a:r>
            <a:endParaRPr sz="1800" dirty="0">
              <a:solidFill>
                <a:schemeClr val="dk2"/>
              </a:solidFill>
            </a:endParaRPr>
          </a:p>
          <a:p>
            <a:pPr marL="457200" lvl="0" indent="0" algn="l" rtl="0">
              <a:spcBef>
                <a:spcPts val="0"/>
              </a:spcBef>
              <a:spcAft>
                <a:spcPts val="0"/>
              </a:spcAft>
              <a:buNone/>
            </a:pPr>
            <a:r>
              <a:rPr lang="en" sz="1800" dirty="0">
                <a:solidFill>
                  <a:schemeClr val="dk2"/>
                </a:solidFill>
              </a:rPr>
              <a:t>-make money in this case make insurance provider more knowledgeable</a:t>
            </a:r>
            <a:endParaRPr sz="1800" dirty="0">
              <a:solidFill>
                <a:schemeClr val="dk2"/>
              </a:solidFill>
            </a:endParaRPr>
          </a:p>
          <a:p>
            <a:pPr marL="0" lvl="0" indent="0" algn="l" rtl="0">
              <a:spcBef>
                <a:spcPts val="0"/>
              </a:spcBef>
              <a:spcAft>
                <a:spcPts val="0"/>
              </a:spcAft>
              <a:buNone/>
            </a:pPr>
            <a:r>
              <a:rPr lang="en" sz="1800" dirty="0">
                <a:solidFill>
                  <a:schemeClr val="dk2"/>
                </a:solidFill>
              </a:rPr>
              <a:t>2.    What is the metrics of success?</a:t>
            </a:r>
            <a:endParaRPr sz="1800" dirty="0">
              <a:solidFill>
                <a:schemeClr val="dk2"/>
              </a:solidFill>
            </a:endParaRPr>
          </a:p>
          <a:p>
            <a:pPr marL="0" lvl="0" indent="0" algn="l" rtl="0">
              <a:spcBef>
                <a:spcPts val="0"/>
              </a:spcBef>
              <a:spcAft>
                <a:spcPts val="0"/>
              </a:spcAft>
              <a:buNone/>
            </a:pPr>
            <a:r>
              <a:rPr lang="en" sz="1800" dirty="0">
                <a:solidFill>
                  <a:schemeClr val="dk2"/>
                </a:solidFill>
              </a:rPr>
              <a:t>       -insurance rate</a:t>
            </a:r>
            <a:endParaRPr sz="1800" dirty="0">
              <a:solidFill>
                <a:schemeClr val="dk2"/>
              </a:solidFill>
            </a:endParaRPr>
          </a:p>
          <a:p>
            <a:pPr marL="0" lvl="0" indent="0" algn="l" rtl="0">
              <a:spcBef>
                <a:spcPts val="0"/>
              </a:spcBef>
              <a:spcAft>
                <a:spcPts val="0"/>
              </a:spcAft>
              <a:buNone/>
            </a:pPr>
            <a:r>
              <a:rPr lang="en" sz="1800" dirty="0">
                <a:solidFill>
                  <a:schemeClr val="dk2"/>
                </a:solidFill>
              </a:rPr>
              <a:t>3.     What are the trends?</a:t>
            </a:r>
            <a:endParaRPr sz="1800" dirty="0">
              <a:solidFill>
                <a:schemeClr val="dk2"/>
              </a:solidFill>
            </a:endParaRPr>
          </a:p>
          <a:p>
            <a:pPr marL="0" lvl="0" indent="0" algn="l" rtl="0">
              <a:spcBef>
                <a:spcPts val="0"/>
              </a:spcBef>
              <a:spcAft>
                <a:spcPts val="0"/>
              </a:spcAft>
              <a:buNone/>
            </a:pPr>
            <a:r>
              <a:rPr lang="en" sz="1800" dirty="0">
                <a:solidFill>
                  <a:schemeClr val="dk2"/>
                </a:solidFill>
              </a:rPr>
              <a:t>        -relationships between variables and rates</a:t>
            </a:r>
            <a:endParaRPr sz="1800" dirty="0">
              <a:solidFill>
                <a:schemeClr val="dk2"/>
              </a:solidFill>
            </a:endParaRPr>
          </a:p>
          <a:p>
            <a:pPr marL="0" lvl="0" indent="0" algn="l" rtl="0">
              <a:spcBef>
                <a:spcPts val="0"/>
              </a:spcBef>
              <a:spcAft>
                <a:spcPts val="0"/>
              </a:spcAft>
              <a:buNone/>
            </a:pPr>
            <a:r>
              <a:rPr lang="en" sz="1800" dirty="0">
                <a:solidFill>
                  <a:schemeClr val="dk2"/>
                </a:solidFill>
              </a:rPr>
              <a:t>4.     What influences our metrics and trends?</a:t>
            </a:r>
            <a:endParaRPr sz="1800" dirty="0">
              <a:solidFill>
                <a:schemeClr val="dk2"/>
              </a:solidFill>
            </a:endParaRPr>
          </a:p>
          <a:p>
            <a:pPr marL="0" lvl="0" indent="0" algn="l" rtl="0">
              <a:spcBef>
                <a:spcPts val="0"/>
              </a:spcBef>
              <a:spcAft>
                <a:spcPts val="0"/>
              </a:spcAft>
              <a:buNone/>
            </a:pPr>
            <a:r>
              <a:rPr lang="en" sz="1800" dirty="0">
                <a:solidFill>
                  <a:schemeClr val="dk2"/>
                </a:solidFill>
              </a:rPr>
              <a:t>        - top three influencers</a:t>
            </a: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378125" y="251300"/>
            <a:ext cx="3692100" cy="450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r>
              <a:rPr lang="en" sz="3100" b="1">
                <a:solidFill>
                  <a:schemeClr val="dk2"/>
                </a:solidFill>
              </a:rPr>
              <a:t>Tools &amp;</a:t>
            </a:r>
            <a:endParaRPr sz="3100" b="1">
              <a:solidFill>
                <a:schemeClr val="dk2"/>
              </a:solidFill>
            </a:endParaRPr>
          </a:p>
          <a:p>
            <a:pPr marL="0" lvl="0" indent="0" algn="l" rtl="0">
              <a:spcBef>
                <a:spcPts val="0"/>
              </a:spcBef>
              <a:spcAft>
                <a:spcPts val="0"/>
              </a:spcAft>
              <a:buNone/>
            </a:pPr>
            <a:r>
              <a:rPr lang="en" sz="3100" b="1">
                <a:solidFill>
                  <a:schemeClr val="dk2"/>
                </a:solidFill>
              </a:rPr>
              <a:t>Techniques</a:t>
            </a:r>
            <a:endParaRPr sz="3100" b="1">
              <a:solidFill>
                <a:schemeClr val="dk2"/>
              </a:solidFill>
            </a:endParaRPr>
          </a:p>
        </p:txBody>
      </p:sp>
      <p:sp>
        <p:nvSpPr>
          <p:cNvPr id="67" name="Google Shape;67;p15"/>
          <p:cNvSpPr txBox="1"/>
          <p:nvPr/>
        </p:nvSpPr>
        <p:spPr>
          <a:xfrm>
            <a:off x="4070225" y="1268800"/>
            <a:ext cx="5358300" cy="46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2"/>
                </a:solidFill>
              </a:rPr>
              <a:t>Tools:</a:t>
            </a:r>
            <a:r>
              <a:rPr lang="en" sz="1800">
                <a:solidFill>
                  <a:schemeClr val="dk2"/>
                </a:solidFill>
              </a:rPr>
              <a:t> Excel And Powerpoint</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b="1">
                <a:solidFill>
                  <a:schemeClr val="dk2"/>
                </a:solidFill>
              </a:rPr>
              <a:t>Techniques:</a:t>
            </a:r>
            <a:r>
              <a:rPr lang="en" sz="1800">
                <a:solidFill>
                  <a:schemeClr val="dk2"/>
                </a:solidFill>
              </a:rPr>
              <a:t> Regression Analysis, Univariate Analysis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b="1">
                <a:solidFill>
                  <a:schemeClr val="dk2"/>
                </a:solidFill>
              </a:rPr>
              <a:t>Statistics : </a:t>
            </a:r>
            <a:r>
              <a:rPr lang="en" sz="1800">
                <a:solidFill>
                  <a:schemeClr val="dk2"/>
                </a:solidFill>
              </a:rPr>
              <a:t>Mean, Median, Sum, Count, Coefficients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b="1">
                <a:solidFill>
                  <a:schemeClr val="dk2"/>
                </a:solidFill>
              </a:rPr>
              <a:t>Visuals:</a:t>
            </a:r>
            <a:r>
              <a:rPr lang="en" sz="1800">
                <a:solidFill>
                  <a:schemeClr val="dk2"/>
                </a:solidFill>
              </a:rPr>
              <a:t>Scatter plots, Bar Graphs, Box Plots</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 sz="1800" b="1">
                <a:solidFill>
                  <a:schemeClr val="dk2"/>
                </a:solidFill>
              </a:rPr>
              <a:t>Data Types:</a:t>
            </a:r>
            <a:r>
              <a:rPr lang="en" sz="1800">
                <a:solidFill>
                  <a:schemeClr val="dk2"/>
                </a:solidFill>
              </a:rPr>
              <a:t> Categorical, Continuous</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4070225" y="1268800"/>
            <a:ext cx="5358300" cy="46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73" name="Google Shape;73;p16"/>
          <p:cNvSpPr txBox="1"/>
          <p:nvPr/>
        </p:nvSpPr>
        <p:spPr>
          <a:xfrm>
            <a:off x="413650" y="473525"/>
            <a:ext cx="12926700" cy="484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100" b="1">
                <a:solidFill>
                  <a:schemeClr val="dk2"/>
                </a:solidFill>
              </a:rPr>
              <a:t>What Is Average Customer Profile:</a:t>
            </a: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r>
              <a:rPr lang="en" sz="3100" b="1">
                <a:solidFill>
                  <a:schemeClr val="dk2"/>
                </a:solidFill>
              </a:rPr>
              <a:t>Average Rate:</a:t>
            </a:r>
            <a:r>
              <a:rPr lang="en" sz="3100">
                <a:solidFill>
                  <a:schemeClr val="dk2"/>
                </a:solidFill>
              </a:rPr>
              <a:t>13270.42</a:t>
            </a:r>
            <a:endParaRPr sz="3100">
              <a:solidFill>
                <a:schemeClr val="dk2"/>
              </a:solidFill>
            </a:endParaRPr>
          </a:p>
          <a:p>
            <a:pPr marL="0" lvl="0" indent="0" algn="l" rtl="0">
              <a:spcBef>
                <a:spcPts val="0"/>
              </a:spcBef>
              <a:spcAft>
                <a:spcPts val="0"/>
              </a:spcAft>
              <a:buNone/>
            </a:pPr>
            <a:endParaRPr sz="3100">
              <a:solidFill>
                <a:schemeClr val="dk2"/>
              </a:solidFill>
            </a:endParaRPr>
          </a:p>
          <a:p>
            <a:pPr marL="0" lvl="0" indent="0" algn="l" rtl="0">
              <a:spcBef>
                <a:spcPts val="0"/>
              </a:spcBef>
              <a:spcAft>
                <a:spcPts val="0"/>
              </a:spcAft>
              <a:buNone/>
            </a:pPr>
            <a:r>
              <a:rPr lang="en" sz="3100" b="1">
                <a:solidFill>
                  <a:schemeClr val="dk2"/>
                </a:solidFill>
              </a:rPr>
              <a:t>Average BMI:</a:t>
            </a:r>
            <a:r>
              <a:rPr lang="en" sz="3100">
                <a:solidFill>
                  <a:schemeClr val="dk2"/>
                </a:solidFill>
              </a:rPr>
              <a:t>30.6634</a:t>
            </a:r>
            <a:endParaRPr sz="3100" b="1">
              <a:solidFill>
                <a:schemeClr val="dk2"/>
              </a:solidFill>
            </a:endParaRPr>
          </a:p>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r>
              <a:rPr lang="en" sz="3100" b="1">
                <a:solidFill>
                  <a:schemeClr val="dk2"/>
                </a:solidFill>
              </a:rPr>
              <a:t>Average Age:</a:t>
            </a:r>
            <a:r>
              <a:rPr lang="en" sz="3100">
                <a:solidFill>
                  <a:schemeClr val="dk2"/>
                </a:solidFill>
              </a:rPr>
              <a:t>39.20703</a:t>
            </a:r>
            <a:endParaRPr sz="3100">
              <a:solidFill>
                <a:schemeClr val="dk2"/>
              </a:solidFill>
            </a:endParaRPr>
          </a:p>
          <a:p>
            <a:pPr marL="0" lvl="0" indent="0" algn="l" rtl="0">
              <a:spcBef>
                <a:spcPts val="0"/>
              </a:spcBef>
              <a:spcAft>
                <a:spcPts val="0"/>
              </a:spcAft>
              <a:buNone/>
            </a:pPr>
            <a:endParaRPr sz="3100" b="1">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4070225" y="1268800"/>
            <a:ext cx="5358300" cy="465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79" name="Google Shape;79;p17"/>
          <p:cNvSpPr txBox="1"/>
          <p:nvPr/>
        </p:nvSpPr>
        <p:spPr>
          <a:xfrm>
            <a:off x="0" y="0"/>
            <a:ext cx="12926700" cy="54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100" b="1">
              <a:solidFill>
                <a:schemeClr val="dk2"/>
              </a:solidFill>
            </a:endParaRPr>
          </a:p>
          <a:p>
            <a:pPr marL="0" lvl="0" indent="0" algn="l" rtl="0">
              <a:spcBef>
                <a:spcPts val="0"/>
              </a:spcBef>
              <a:spcAft>
                <a:spcPts val="0"/>
              </a:spcAft>
              <a:buNone/>
            </a:pPr>
            <a:endParaRPr sz="3100">
              <a:solidFill>
                <a:schemeClr val="dk2"/>
              </a:solidFill>
            </a:endParaRPr>
          </a:p>
          <a:p>
            <a:pPr marL="0" lvl="0" indent="0" algn="l" rtl="0">
              <a:spcBef>
                <a:spcPts val="0"/>
              </a:spcBef>
              <a:spcAft>
                <a:spcPts val="0"/>
              </a:spcAft>
              <a:buNone/>
            </a:pPr>
            <a:endParaRPr sz="3100" b="1">
              <a:solidFill>
                <a:schemeClr val="dk2"/>
              </a:solidFill>
            </a:endParaRPr>
          </a:p>
        </p:txBody>
      </p:sp>
      <p:pic>
        <p:nvPicPr>
          <p:cNvPr id="80" name="Google Shape;80;p17"/>
          <p:cNvPicPr preferRelativeResize="0"/>
          <p:nvPr/>
        </p:nvPicPr>
        <p:blipFill>
          <a:blip r:embed="rId3">
            <a:alphaModFix/>
          </a:blip>
          <a:stretch>
            <a:fillRect/>
          </a:stretch>
        </p:blipFill>
        <p:spPr>
          <a:xfrm>
            <a:off x="0" y="-216475"/>
            <a:ext cx="4797125" cy="2658351"/>
          </a:xfrm>
          <a:prstGeom prst="rect">
            <a:avLst/>
          </a:prstGeom>
          <a:noFill/>
          <a:ln>
            <a:noFill/>
          </a:ln>
        </p:spPr>
      </p:pic>
      <p:pic>
        <p:nvPicPr>
          <p:cNvPr id="81" name="Google Shape;81;p17"/>
          <p:cNvPicPr preferRelativeResize="0"/>
          <p:nvPr/>
        </p:nvPicPr>
        <p:blipFill>
          <a:blip r:embed="rId4">
            <a:alphaModFix/>
          </a:blip>
          <a:stretch>
            <a:fillRect/>
          </a:stretch>
        </p:blipFill>
        <p:spPr>
          <a:xfrm>
            <a:off x="4797125" y="-151525"/>
            <a:ext cx="4346874" cy="2408199"/>
          </a:xfrm>
          <a:prstGeom prst="rect">
            <a:avLst/>
          </a:prstGeom>
          <a:noFill/>
          <a:ln>
            <a:noFill/>
          </a:ln>
        </p:spPr>
      </p:pic>
      <p:pic>
        <p:nvPicPr>
          <p:cNvPr id="82" name="Google Shape;82;p17"/>
          <p:cNvPicPr preferRelativeResize="0"/>
          <p:nvPr/>
        </p:nvPicPr>
        <p:blipFill>
          <a:blip r:embed="rId5">
            <a:alphaModFix/>
          </a:blip>
          <a:stretch>
            <a:fillRect/>
          </a:stretch>
        </p:blipFill>
        <p:spPr>
          <a:xfrm>
            <a:off x="-3" y="2192263"/>
            <a:ext cx="4797126" cy="3166724"/>
          </a:xfrm>
          <a:prstGeom prst="rect">
            <a:avLst/>
          </a:prstGeom>
          <a:noFill/>
          <a:ln>
            <a:noFill/>
          </a:ln>
        </p:spPr>
      </p:pic>
      <p:pic>
        <p:nvPicPr>
          <p:cNvPr id="83" name="Google Shape;83;p17"/>
          <p:cNvPicPr preferRelativeResize="0"/>
          <p:nvPr/>
        </p:nvPicPr>
        <p:blipFill>
          <a:blip r:embed="rId6">
            <a:alphaModFix/>
          </a:blip>
          <a:stretch>
            <a:fillRect/>
          </a:stretch>
        </p:blipFill>
        <p:spPr>
          <a:xfrm>
            <a:off x="4797122" y="2127313"/>
            <a:ext cx="4346876" cy="31667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311700" y="2727250"/>
            <a:ext cx="4566099" cy="2230850"/>
          </a:xfrm>
          <a:prstGeom prst="rect">
            <a:avLst/>
          </a:prstGeom>
          <a:noFill/>
          <a:ln>
            <a:noFill/>
          </a:ln>
        </p:spPr>
      </p:pic>
      <p:pic>
        <p:nvPicPr>
          <p:cNvPr id="89" name="Google Shape;89;p18"/>
          <p:cNvPicPr preferRelativeResize="0"/>
          <p:nvPr/>
        </p:nvPicPr>
        <p:blipFill>
          <a:blip r:embed="rId4">
            <a:alphaModFix/>
          </a:blip>
          <a:stretch>
            <a:fillRect/>
          </a:stretch>
        </p:blipFill>
        <p:spPr>
          <a:xfrm>
            <a:off x="311700" y="765900"/>
            <a:ext cx="4566099" cy="1805850"/>
          </a:xfrm>
          <a:prstGeom prst="rect">
            <a:avLst/>
          </a:prstGeom>
          <a:noFill/>
          <a:ln>
            <a:noFill/>
          </a:ln>
        </p:spPr>
      </p:pic>
      <p:pic>
        <p:nvPicPr>
          <p:cNvPr id="90" name="Google Shape;90;p18"/>
          <p:cNvPicPr preferRelativeResize="0"/>
          <p:nvPr/>
        </p:nvPicPr>
        <p:blipFill>
          <a:blip r:embed="rId5">
            <a:alphaModFix/>
          </a:blip>
          <a:stretch>
            <a:fillRect/>
          </a:stretch>
        </p:blipFill>
        <p:spPr>
          <a:xfrm>
            <a:off x="4877800" y="668700"/>
            <a:ext cx="4266200" cy="1903050"/>
          </a:xfrm>
          <a:prstGeom prst="rect">
            <a:avLst/>
          </a:prstGeom>
          <a:noFill/>
          <a:ln>
            <a:noFill/>
          </a:ln>
        </p:spPr>
      </p:pic>
      <p:sp>
        <p:nvSpPr>
          <p:cNvPr id="91" name="Google Shape;91;p18"/>
          <p:cNvSpPr txBox="1"/>
          <p:nvPr/>
        </p:nvSpPr>
        <p:spPr>
          <a:xfrm>
            <a:off x="5096850" y="2729200"/>
            <a:ext cx="3654600" cy="2138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AutoNum type="arabicPeriod"/>
            </a:pPr>
            <a:r>
              <a:rPr lang="en" sz="1800">
                <a:solidFill>
                  <a:schemeClr val="dk2"/>
                </a:solidFill>
              </a:rPr>
              <a:t>Smokers have 4x higher charges</a:t>
            </a:r>
            <a:endParaRPr sz="1800">
              <a:solidFill>
                <a:schemeClr val="dk2"/>
              </a:solidFill>
            </a:endParaRPr>
          </a:p>
          <a:p>
            <a:pPr marL="457200" lvl="0" indent="-342900" algn="l" rtl="0">
              <a:spcBef>
                <a:spcPts val="0"/>
              </a:spcBef>
              <a:spcAft>
                <a:spcPts val="0"/>
              </a:spcAft>
              <a:buClr>
                <a:schemeClr val="dk2"/>
              </a:buClr>
              <a:buSzPts val="1800"/>
              <a:buAutoNum type="arabicPeriod"/>
            </a:pPr>
            <a:r>
              <a:rPr lang="en" sz="1800">
                <a:solidFill>
                  <a:schemeClr val="dk2"/>
                </a:solidFill>
              </a:rPr>
              <a:t>Male have a little bit highcharges</a:t>
            </a:r>
            <a:endParaRPr sz="1800">
              <a:solidFill>
                <a:schemeClr val="dk2"/>
              </a:solidFill>
            </a:endParaRPr>
          </a:p>
          <a:p>
            <a:pPr marL="457200" lvl="0" indent="-342900" algn="l" rtl="0">
              <a:spcBef>
                <a:spcPts val="0"/>
              </a:spcBef>
              <a:spcAft>
                <a:spcPts val="0"/>
              </a:spcAft>
              <a:buClr>
                <a:schemeClr val="dk2"/>
              </a:buClr>
              <a:buSzPts val="1800"/>
              <a:buAutoNum type="arabicPeriod"/>
            </a:pPr>
            <a:r>
              <a:rPr lang="en" sz="1800">
                <a:solidFill>
                  <a:schemeClr val="dk2"/>
                </a:solidFill>
              </a:rPr>
              <a:t>Southeast has the most highest charges</a:t>
            </a:r>
            <a:endParaRPr sz="1800">
              <a:solidFill>
                <a:schemeClr val="dk2"/>
              </a:solidFill>
            </a:endParaRPr>
          </a:p>
        </p:txBody>
      </p:sp>
      <p:sp>
        <p:nvSpPr>
          <p:cNvPr id="92" name="Google Shape;92;p18"/>
          <p:cNvSpPr txBox="1"/>
          <p:nvPr/>
        </p:nvSpPr>
        <p:spPr>
          <a:xfrm>
            <a:off x="1972725" y="124400"/>
            <a:ext cx="7599000" cy="79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chemeClr val="dk2"/>
                </a:solidFill>
              </a:rPr>
              <a:t>What Categories Have The Highest Charges?</a:t>
            </a:r>
            <a:endParaRPr sz="11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ctrTitle"/>
          </p:nvPr>
        </p:nvSpPr>
        <p:spPr>
          <a:xfrm>
            <a:off x="408900" y="416000"/>
            <a:ext cx="8520600" cy="4587900"/>
          </a:xfrm>
          <a:prstGeom prst="rect">
            <a:avLst/>
          </a:prstGeom>
        </p:spPr>
        <p:txBody>
          <a:bodyPr spcFirstLastPara="1" wrap="square" lIns="91425" tIns="91425" rIns="91425" bIns="91425" anchor="b" anchorCtr="0">
            <a:normAutofit fontScale="90000"/>
          </a:bodyPr>
          <a:lstStyle/>
          <a:p>
            <a:pPr marL="0" lvl="0" indent="0" algn="l" rtl="0">
              <a:lnSpc>
                <a:spcPct val="115000"/>
              </a:lnSpc>
              <a:spcBef>
                <a:spcPts val="1800"/>
              </a:spcBef>
              <a:spcAft>
                <a:spcPts val="0"/>
              </a:spcAft>
              <a:buClr>
                <a:schemeClr val="dk1"/>
              </a:buClr>
              <a:buSzPct val="45833"/>
              <a:buFont typeface="Arial"/>
              <a:buNone/>
            </a:pPr>
            <a:r>
              <a:rPr lang="en" sz="2400" b="1">
                <a:solidFill>
                  <a:schemeClr val="dk2"/>
                </a:solidFill>
              </a:rPr>
              <a:t>What is Multiple Linear Regression?</a:t>
            </a:r>
            <a:endParaRPr sz="2400" b="1">
              <a:solidFill>
                <a:schemeClr val="dk2"/>
              </a:solidFill>
            </a:endParaRPr>
          </a:p>
          <a:p>
            <a:pPr marL="457200" marR="0" lvl="0" indent="-331470" algn="l" rtl="0">
              <a:lnSpc>
                <a:spcPct val="100000"/>
              </a:lnSpc>
              <a:spcBef>
                <a:spcPts val="400"/>
              </a:spcBef>
              <a:spcAft>
                <a:spcPts val="0"/>
              </a:spcAft>
              <a:buClr>
                <a:schemeClr val="dk2"/>
              </a:buClr>
              <a:buSzPct val="100000"/>
              <a:buAutoNum type="arabicPeriod"/>
            </a:pPr>
            <a:r>
              <a:rPr lang="en" sz="1800">
                <a:solidFill>
                  <a:schemeClr val="dk2"/>
                </a:solidFill>
              </a:rPr>
              <a:t>Multiple Linear Regression is a statistical technique used to predict a continuous outcome by analyzing the relationship between one dependent variable and multiple independent variables.</a:t>
            </a:r>
            <a:endParaRPr sz="1800">
              <a:solidFill>
                <a:schemeClr val="dk2"/>
              </a:solidFill>
            </a:endParaRPr>
          </a:p>
          <a:p>
            <a:pPr marL="457200" marR="0" lvl="0" indent="0" algn="l" rtl="0">
              <a:lnSpc>
                <a:spcPct val="100000"/>
              </a:lnSpc>
              <a:spcBef>
                <a:spcPts val="0"/>
              </a:spcBef>
              <a:spcAft>
                <a:spcPts val="0"/>
              </a:spcAft>
              <a:buNone/>
            </a:pPr>
            <a:r>
              <a:rPr lang="en" sz="1800" b="1">
                <a:solidFill>
                  <a:schemeClr val="dk2"/>
                </a:solidFill>
              </a:rPr>
              <a:t>Purpose of this Model</a:t>
            </a:r>
            <a:endParaRPr sz="1800" b="1">
              <a:solidFill>
                <a:schemeClr val="dk2"/>
              </a:solidFill>
            </a:endParaRPr>
          </a:p>
          <a:p>
            <a:pPr marL="457200" marR="0" lvl="0" indent="0" algn="l" rtl="0">
              <a:lnSpc>
                <a:spcPct val="100000"/>
              </a:lnSpc>
              <a:spcBef>
                <a:spcPts val="0"/>
              </a:spcBef>
              <a:spcAft>
                <a:spcPts val="0"/>
              </a:spcAft>
              <a:buNone/>
            </a:pPr>
            <a:r>
              <a:rPr lang="en" sz="1800" b="1">
                <a:solidFill>
                  <a:schemeClr val="dk2"/>
                </a:solidFill>
              </a:rPr>
              <a:t>Predict Medical Charges based on:</a:t>
            </a:r>
            <a:endParaRPr sz="1800" b="1">
              <a:solidFill>
                <a:schemeClr val="dk2"/>
              </a:solidFill>
            </a:endParaRPr>
          </a:p>
          <a:p>
            <a:pPr marL="457200" marR="0" lvl="0" indent="0" algn="l" rtl="0">
              <a:lnSpc>
                <a:spcPct val="100000"/>
              </a:lnSpc>
              <a:spcBef>
                <a:spcPts val="0"/>
              </a:spcBef>
              <a:spcAft>
                <a:spcPts val="0"/>
              </a:spcAft>
              <a:buNone/>
            </a:pPr>
            <a:r>
              <a:rPr lang="en" sz="1800">
                <a:solidFill>
                  <a:schemeClr val="dk2"/>
                </a:solidFill>
              </a:rPr>
              <a:t>Age</a:t>
            </a:r>
            <a:endParaRPr sz="1800">
              <a:solidFill>
                <a:schemeClr val="dk2"/>
              </a:solidFill>
            </a:endParaRPr>
          </a:p>
          <a:p>
            <a:pPr marL="457200" marR="0" lvl="0" indent="0" algn="l" rtl="0">
              <a:lnSpc>
                <a:spcPct val="100000"/>
              </a:lnSpc>
              <a:spcBef>
                <a:spcPts val="0"/>
              </a:spcBef>
              <a:spcAft>
                <a:spcPts val="0"/>
              </a:spcAft>
              <a:buNone/>
            </a:pPr>
            <a:r>
              <a:rPr lang="en" sz="1800">
                <a:solidFill>
                  <a:schemeClr val="dk2"/>
                </a:solidFill>
              </a:rPr>
              <a:t>BMI (Body Mass Index)</a:t>
            </a:r>
            <a:endParaRPr sz="1800">
              <a:solidFill>
                <a:schemeClr val="dk2"/>
              </a:solidFill>
            </a:endParaRPr>
          </a:p>
          <a:p>
            <a:pPr marL="457200" marR="0" lvl="0" indent="0" algn="l" rtl="0">
              <a:lnSpc>
                <a:spcPct val="100000"/>
              </a:lnSpc>
              <a:spcBef>
                <a:spcPts val="0"/>
              </a:spcBef>
              <a:spcAft>
                <a:spcPts val="0"/>
              </a:spcAft>
              <a:buNone/>
            </a:pPr>
            <a:r>
              <a:rPr lang="en" sz="1800">
                <a:solidFill>
                  <a:schemeClr val="dk2"/>
                </a:solidFill>
              </a:rPr>
              <a:t>Number of Children</a:t>
            </a:r>
            <a:endParaRPr sz="1800">
              <a:solidFill>
                <a:schemeClr val="dk2"/>
              </a:solidFill>
            </a:endParaRPr>
          </a:p>
          <a:p>
            <a:pPr marL="457200" marR="0" lvl="0" indent="0" algn="l" rtl="0">
              <a:lnSpc>
                <a:spcPct val="100000"/>
              </a:lnSpc>
              <a:spcBef>
                <a:spcPts val="0"/>
              </a:spcBef>
              <a:spcAft>
                <a:spcPts val="0"/>
              </a:spcAft>
              <a:buNone/>
            </a:pPr>
            <a:r>
              <a:rPr lang="en" sz="1800">
                <a:solidFill>
                  <a:schemeClr val="dk2"/>
                </a:solidFill>
              </a:rPr>
              <a:t>Gender</a:t>
            </a:r>
            <a:endParaRPr sz="1800">
              <a:solidFill>
                <a:schemeClr val="dk2"/>
              </a:solidFill>
            </a:endParaRPr>
          </a:p>
          <a:p>
            <a:pPr marL="457200" marR="0" lvl="0" indent="0" algn="l" rtl="0">
              <a:lnSpc>
                <a:spcPct val="100000"/>
              </a:lnSpc>
              <a:spcBef>
                <a:spcPts val="0"/>
              </a:spcBef>
              <a:spcAft>
                <a:spcPts val="0"/>
              </a:spcAft>
              <a:buNone/>
            </a:pPr>
            <a:r>
              <a:rPr lang="en" sz="1800">
                <a:solidFill>
                  <a:schemeClr val="dk2"/>
                </a:solidFill>
              </a:rPr>
              <a:t>Smoking Status</a:t>
            </a:r>
            <a:endParaRPr sz="1800">
              <a:solidFill>
                <a:schemeClr val="dk2"/>
              </a:solidFill>
            </a:endParaRPr>
          </a:p>
          <a:p>
            <a:pPr marL="457200" marR="0" lvl="0" indent="0" algn="l" rtl="0">
              <a:lnSpc>
                <a:spcPct val="100000"/>
              </a:lnSpc>
              <a:spcBef>
                <a:spcPts val="0"/>
              </a:spcBef>
              <a:spcAft>
                <a:spcPts val="0"/>
              </a:spcAft>
              <a:buNone/>
            </a:pPr>
            <a:r>
              <a:rPr lang="en" sz="1800">
                <a:solidFill>
                  <a:schemeClr val="dk2"/>
                </a:solidFill>
              </a:rPr>
              <a:t>Region</a:t>
            </a:r>
            <a:endParaRPr sz="1800">
              <a:solidFill>
                <a:schemeClr val="dk2"/>
              </a:solidFill>
            </a:endParaRPr>
          </a:p>
          <a:p>
            <a:pPr marL="457200" marR="0" lvl="0" indent="0" algn="l" rtl="0">
              <a:lnSpc>
                <a:spcPct val="100000"/>
              </a:lnSpc>
              <a:spcBef>
                <a:spcPts val="0"/>
              </a:spcBef>
              <a:spcAft>
                <a:spcPts val="0"/>
              </a:spcAft>
              <a:buNone/>
            </a:pPr>
            <a:r>
              <a:rPr lang="en" sz="1800" b="1">
                <a:solidFill>
                  <a:schemeClr val="dk2"/>
                </a:solidFill>
              </a:rPr>
              <a:t>Regression Equation</a:t>
            </a:r>
            <a:endParaRPr sz="1800" b="1">
              <a:solidFill>
                <a:schemeClr val="dk2"/>
              </a:solidFill>
            </a:endParaRPr>
          </a:p>
          <a:p>
            <a:pPr marL="457200" marR="0" lvl="0" indent="0" algn="l" rtl="0">
              <a:lnSpc>
                <a:spcPct val="100000"/>
              </a:lnSpc>
              <a:spcBef>
                <a:spcPts val="0"/>
              </a:spcBef>
              <a:spcAft>
                <a:spcPts val="0"/>
              </a:spcAft>
              <a:buNone/>
            </a:pPr>
            <a:r>
              <a:rPr lang="en" sz="1800">
                <a:solidFill>
                  <a:schemeClr val="dk2"/>
                </a:solidFill>
              </a:rPr>
              <a:t>Medical Charges=β0+β1(Age)+β2(BMI)+β3(Children)+β4(Gender)+β5(Smoker)+β6(Region)\text{Medical Charges)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ctrTitle"/>
          </p:nvPr>
        </p:nvSpPr>
        <p:spPr>
          <a:xfrm>
            <a:off x="311700" y="0"/>
            <a:ext cx="8520600" cy="2797200"/>
          </a:xfrm>
          <a:prstGeom prst="rect">
            <a:avLst/>
          </a:prstGeom>
        </p:spPr>
        <p:txBody>
          <a:bodyPr spcFirstLastPara="1" wrap="square" lIns="91425" tIns="91425" rIns="91425" bIns="91425" anchor="b" anchorCtr="0">
            <a:normAutofit/>
          </a:bodyPr>
          <a:lstStyle/>
          <a:p>
            <a:pPr marL="0" lvl="0" indent="0" algn="l" rtl="0">
              <a:lnSpc>
                <a:spcPct val="115000"/>
              </a:lnSpc>
              <a:spcBef>
                <a:spcPts val="1200"/>
              </a:spcBef>
              <a:spcAft>
                <a:spcPts val="0"/>
              </a:spcAft>
              <a:buNone/>
            </a:pPr>
            <a:endParaRPr sz="1500" b="1">
              <a:solidFill>
                <a:schemeClr val="dk2"/>
              </a:solidFill>
            </a:endParaRPr>
          </a:p>
          <a:p>
            <a:pPr marL="0" lvl="0" indent="0" algn="ctr" rtl="0">
              <a:spcBef>
                <a:spcPts val="1200"/>
              </a:spcBef>
              <a:spcAft>
                <a:spcPts val="0"/>
              </a:spcAft>
              <a:buNone/>
            </a:pPr>
            <a:endParaRPr sz="1500" b="1">
              <a:solidFill>
                <a:schemeClr val="dk2"/>
              </a:solidFill>
            </a:endParaRPr>
          </a:p>
        </p:txBody>
      </p:sp>
      <p:graphicFrame>
        <p:nvGraphicFramePr>
          <p:cNvPr id="103" name="Google Shape;103;p20"/>
          <p:cNvGraphicFramePr/>
          <p:nvPr/>
        </p:nvGraphicFramePr>
        <p:xfrm>
          <a:off x="152400" y="1831925"/>
          <a:ext cx="8801100" cy="2797200"/>
        </p:xfrm>
        <a:graphic>
          <a:graphicData uri="http://schemas.openxmlformats.org/drawingml/2006/table">
            <a:tbl>
              <a:tblPr>
                <a:noFill/>
                <a:tableStyleId>{4FCE9FC9-FECE-4AF1-B5E3-872547ACBB62}</a:tableStyleId>
              </a:tblPr>
              <a:tblGrid>
                <a:gridCol w="1047750">
                  <a:extLst>
                    <a:ext uri="{9D8B030D-6E8A-4147-A177-3AD203B41FA5}">
                      <a16:colId xmlns:a16="http://schemas.microsoft.com/office/drawing/2014/main" val="20000"/>
                    </a:ext>
                  </a:extLst>
                </a:gridCol>
                <a:gridCol w="7753350">
                  <a:extLst>
                    <a:ext uri="{9D8B030D-6E8A-4147-A177-3AD203B41FA5}">
                      <a16:colId xmlns:a16="http://schemas.microsoft.com/office/drawing/2014/main" val="20001"/>
                    </a:ext>
                  </a:extLst>
                </a:gridCol>
              </a:tblGrid>
              <a:tr h="732950">
                <a:tc>
                  <a:txBody>
                    <a:bodyPr/>
                    <a:lstStyle/>
                    <a:p>
                      <a:pPr marL="0" lvl="0" indent="0" algn="ctr" rtl="0">
                        <a:lnSpc>
                          <a:spcPct val="115000"/>
                        </a:lnSpc>
                        <a:spcBef>
                          <a:spcPts val="0"/>
                        </a:spcBef>
                        <a:spcAft>
                          <a:spcPts val="0"/>
                        </a:spcAft>
                        <a:buNone/>
                      </a:pPr>
                      <a:r>
                        <a:rPr lang="en" sz="1500" b="1">
                          <a:solidFill>
                            <a:schemeClr val="dk2"/>
                          </a:solidFill>
                        </a:rPr>
                        <a:t>Metric</a:t>
                      </a:r>
                      <a:endParaRPr sz="1500" b="1">
                        <a:solidFill>
                          <a:schemeClr val="dk2"/>
                        </a:solidFill>
                      </a:endParaRPr>
                    </a:p>
                  </a:txBody>
                  <a:tcPr marL="91425" marR="91425" marT="91425" marB="91425"/>
                </a:tc>
                <a:tc>
                  <a:txBody>
                    <a:bodyPr/>
                    <a:lstStyle/>
                    <a:p>
                      <a:pPr marL="0" lvl="0" indent="0" algn="ctr" rtl="0">
                        <a:lnSpc>
                          <a:spcPct val="115000"/>
                        </a:lnSpc>
                        <a:spcBef>
                          <a:spcPts val="0"/>
                        </a:spcBef>
                        <a:spcAft>
                          <a:spcPts val="0"/>
                        </a:spcAft>
                        <a:buNone/>
                      </a:pPr>
                      <a:r>
                        <a:rPr lang="en" sz="1500" b="1">
                          <a:solidFill>
                            <a:schemeClr val="dk2"/>
                          </a:solidFill>
                        </a:rPr>
                        <a:t>What It Means</a:t>
                      </a:r>
                      <a:endParaRPr sz="1500" b="1">
                        <a:solidFill>
                          <a:schemeClr val="dk2"/>
                        </a:solidFill>
                      </a:endParaRPr>
                    </a:p>
                  </a:txBody>
                  <a:tcPr marL="91425" marR="91425" marT="91425" marB="91425"/>
                </a:tc>
                <a:extLst>
                  <a:ext uri="{0D108BD9-81ED-4DB2-BD59-A6C34878D82A}">
                    <a16:rowId xmlns:a16="http://schemas.microsoft.com/office/drawing/2014/main" val="10000"/>
                  </a:ext>
                </a:extLst>
              </a:tr>
              <a:tr h="1032125">
                <a:tc>
                  <a:txBody>
                    <a:bodyPr/>
                    <a:lstStyle/>
                    <a:p>
                      <a:pPr marL="0" lvl="0" indent="0" algn="l" rtl="0">
                        <a:spcBef>
                          <a:spcPts val="0"/>
                        </a:spcBef>
                        <a:spcAft>
                          <a:spcPts val="0"/>
                        </a:spcAft>
                        <a:buNone/>
                      </a:pPr>
                      <a:r>
                        <a:rPr lang="en" sz="1500" b="1">
                          <a:solidFill>
                            <a:schemeClr val="dk2"/>
                          </a:solidFill>
                        </a:rPr>
                        <a:t>R² = 0.751</a:t>
                      </a:r>
                      <a:endParaRPr sz="1500" b="1">
                        <a:solidFill>
                          <a:schemeClr val="dk2"/>
                        </a:solidFill>
                      </a:endParaRPr>
                    </a:p>
                  </a:txBody>
                  <a:tcPr marL="91425" marR="91425" marT="91425" marB="91425"/>
                </a:tc>
                <a:tc>
                  <a:txBody>
                    <a:bodyPr/>
                    <a:lstStyle/>
                    <a:p>
                      <a:pPr marL="0" lvl="0" indent="0" algn="l" rtl="0">
                        <a:spcBef>
                          <a:spcPts val="0"/>
                        </a:spcBef>
                        <a:spcAft>
                          <a:spcPts val="0"/>
                        </a:spcAft>
                        <a:buNone/>
                      </a:pPr>
                      <a:r>
                        <a:rPr lang="en" sz="1500" b="1">
                          <a:solidFill>
                            <a:schemeClr val="dk2"/>
                          </a:solidFill>
                        </a:rPr>
                        <a:t>The model explains 75.1% of the differences in medical charges, meaning it predicts costs quite well. The remaining 24.9% is influenced by other factors not included in the model.</a:t>
                      </a:r>
                      <a:endParaRPr sz="1500" b="1">
                        <a:solidFill>
                          <a:schemeClr val="dk2"/>
                        </a:solidFill>
                      </a:endParaRPr>
                    </a:p>
                  </a:txBody>
                  <a:tcPr marL="91425" marR="91425" marT="91425" marB="91425"/>
                </a:tc>
                <a:extLst>
                  <a:ext uri="{0D108BD9-81ED-4DB2-BD59-A6C34878D82A}">
                    <a16:rowId xmlns:a16="http://schemas.microsoft.com/office/drawing/2014/main" val="10001"/>
                  </a:ext>
                </a:extLst>
              </a:tr>
              <a:tr h="1032125">
                <a:tc>
                  <a:txBody>
                    <a:bodyPr/>
                    <a:lstStyle/>
                    <a:p>
                      <a:pPr marL="0" lvl="0" indent="0" algn="l" rtl="0">
                        <a:spcBef>
                          <a:spcPts val="0"/>
                        </a:spcBef>
                        <a:spcAft>
                          <a:spcPts val="0"/>
                        </a:spcAft>
                        <a:buNone/>
                      </a:pPr>
                      <a:r>
                        <a:rPr lang="en" sz="1500" b="1">
                          <a:solidFill>
                            <a:schemeClr val="dk2"/>
                          </a:solidFill>
                        </a:rPr>
                        <a:t>Significance F ≈ 0</a:t>
                      </a:r>
                      <a:endParaRPr sz="1500" b="1">
                        <a:solidFill>
                          <a:schemeClr val="dk2"/>
                        </a:solidFill>
                      </a:endParaRPr>
                    </a:p>
                  </a:txBody>
                  <a:tcPr marL="91425" marR="91425" marT="91425" marB="91425"/>
                </a:tc>
                <a:tc>
                  <a:txBody>
                    <a:bodyPr/>
                    <a:lstStyle/>
                    <a:p>
                      <a:pPr marL="0" lvl="0" indent="0" algn="l" rtl="0">
                        <a:spcBef>
                          <a:spcPts val="0"/>
                        </a:spcBef>
                        <a:spcAft>
                          <a:spcPts val="0"/>
                        </a:spcAft>
                        <a:buNone/>
                      </a:pPr>
                      <a:r>
                        <a:rPr lang="en" sz="1500" b="1">
                          <a:solidFill>
                            <a:schemeClr val="dk2"/>
                          </a:solidFill>
                        </a:rPr>
                        <a:t>This tells us the model is statistically reliable. The relationship between the input variables and medical charges is very unlikely to be due to chance, so we can trust the model's results.</a:t>
                      </a:r>
                      <a:endParaRPr sz="1500" b="1">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04" name="Google Shape;104;p20"/>
          <p:cNvSpPr txBox="1"/>
          <p:nvPr/>
        </p:nvSpPr>
        <p:spPr>
          <a:xfrm>
            <a:off x="304800" y="-653150"/>
            <a:ext cx="7255800" cy="3957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500" b="1">
                <a:solidFill>
                  <a:schemeClr val="dk2"/>
                </a:solidFill>
              </a:rPr>
              <a:t>How Well Does the Model Predict Medical Charges?</a:t>
            </a:r>
            <a:endParaRPr sz="1500" b="1">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aphicFrame>
        <p:nvGraphicFramePr>
          <p:cNvPr id="109" name="Google Shape;109;p21"/>
          <p:cNvGraphicFramePr/>
          <p:nvPr/>
        </p:nvGraphicFramePr>
        <p:xfrm>
          <a:off x="152400" y="893250"/>
          <a:ext cx="8991600" cy="3931650"/>
        </p:xfrm>
        <a:graphic>
          <a:graphicData uri="http://schemas.openxmlformats.org/drawingml/2006/table">
            <a:tbl>
              <a:tblPr>
                <a:noFill/>
                <a:tableStyleId>{4FCE9FC9-FECE-4AF1-B5E3-872547ACBB62}</a:tableStyleId>
              </a:tblPr>
              <a:tblGrid>
                <a:gridCol w="912925">
                  <a:extLst>
                    <a:ext uri="{9D8B030D-6E8A-4147-A177-3AD203B41FA5}">
                      <a16:colId xmlns:a16="http://schemas.microsoft.com/office/drawing/2014/main" val="20000"/>
                    </a:ext>
                  </a:extLst>
                </a:gridCol>
                <a:gridCol w="962950">
                  <a:extLst>
                    <a:ext uri="{9D8B030D-6E8A-4147-A177-3AD203B41FA5}">
                      <a16:colId xmlns:a16="http://schemas.microsoft.com/office/drawing/2014/main" val="20001"/>
                    </a:ext>
                  </a:extLst>
                </a:gridCol>
                <a:gridCol w="675300">
                  <a:extLst>
                    <a:ext uri="{9D8B030D-6E8A-4147-A177-3AD203B41FA5}">
                      <a16:colId xmlns:a16="http://schemas.microsoft.com/office/drawing/2014/main" val="20002"/>
                    </a:ext>
                  </a:extLst>
                </a:gridCol>
                <a:gridCol w="6440425">
                  <a:extLst>
                    <a:ext uri="{9D8B030D-6E8A-4147-A177-3AD203B41FA5}">
                      <a16:colId xmlns:a16="http://schemas.microsoft.com/office/drawing/2014/main" val="20003"/>
                    </a:ext>
                  </a:extLst>
                </a:gridCol>
              </a:tblGrid>
              <a:tr h="624350">
                <a:tc>
                  <a:txBody>
                    <a:bodyPr/>
                    <a:lstStyle/>
                    <a:p>
                      <a:pPr marL="0" lvl="0" indent="0" algn="ctr" rtl="0">
                        <a:lnSpc>
                          <a:spcPct val="115000"/>
                        </a:lnSpc>
                        <a:spcBef>
                          <a:spcPts val="0"/>
                        </a:spcBef>
                        <a:spcAft>
                          <a:spcPts val="0"/>
                        </a:spcAft>
                        <a:buNone/>
                      </a:pPr>
                      <a:r>
                        <a:rPr lang="en" sz="1100" b="1"/>
                        <a:t>Variable</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Coefficient</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P-value</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Interpretation</a:t>
                      </a:r>
                      <a:endParaRPr sz="1100" b="1"/>
                    </a:p>
                  </a:txBody>
                  <a:tcPr marL="91425" marR="91425" marT="91425" marB="91425"/>
                </a:tc>
                <a:extLst>
                  <a:ext uri="{0D108BD9-81ED-4DB2-BD59-A6C34878D82A}">
                    <a16:rowId xmlns:a16="http://schemas.microsoft.com/office/drawing/2014/main" val="10000"/>
                  </a:ext>
                </a:extLst>
              </a:tr>
              <a:tr h="392325">
                <a:tc>
                  <a:txBody>
                    <a:bodyPr/>
                    <a:lstStyle/>
                    <a:p>
                      <a:pPr marL="0" lvl="0" indent="0" algn="l" rtl="0">
                        <a:spcBef>
                          <a:spcPts val="0"/>
                        </a:spcBef>
                        <a:spcAft>
                          <a:spcPts val="0"/>
                        </a:spcAft>
                        <a:buNone/>
                      </a:pPr>
                      <a:r>
                        <a:rPr lang="en" sz="1100" b="1"/>
                        <a:t>Smoker</a:t>
                      </a:r>
                      <a:endParaRPr sz="1100" b="1"/>
                    </a:p>
                  </a:txBody>
                  <a:tcPr marL="91425" marR="91425" marT="91425" marB="91425"/>
                </a:tc>
                <a:tc>
                  <a:txBody>
                    <a:bodyPr/>
                    <a:lstStyle/>
                    <a:p>
                      <a:pPr marL="0" lvl="0" indent="0" algn="l" rtl="0">
                        <a:spcBef>
                          <a:spcPts val="0"/>
                        </a:spcBef>
                        <a:spcAft>
                          <a:spcPts val="0"/>
                        </a:spcAft>
                        <a:buNone/>
                      </a:pPr>
                      <a:r>
                        <a:rPr lang="en" sz="1100" b="1"/>
                        <a:t>23,848.53</a:t>
                      </a:r>
                      <a:endParaRPr sz="1100" b="1"/>
                    </a:p>
                  </a:txBody>
                  <a:tcPr marL="91425" marR="91425" marT="91425" marB="91425"/>
                </a:tc>
                <a:tc>
                  <a:txBody>
                    <a:bodyPr/>
                    <a:lstStyle/>
                    <a:p>
                      <a:pPr marL="0" lvl="0" indent="0" algn="l" rtl="0">
                        <a:spcBef>
                          <a:spcPts val="0"/>
                        </a:spcBef>
                        <a:spcAft>
                          <a:spcPts val="0"/>
                        </a:spcAft>
                        <a:buNone/>
                      </a:pPr>
                      <a:r>
                        <a:rPr lang="en" sz="1100" b="1"/>
                        <a:t>&lt;0.001</a:t>
                      </a:r>
                      <a:endParaRPr sz="1100" b="1"/>
                    </a:p>
                  </a:txBody>
                  <a:tcPr marL="91425" marR="91425" marT="91425" marB="91425"/>
                </a:tc>
                <a:tc>
                  <a:txBody>
                    <a:bodyPr/>
                    <a:lstStyle/>
                    <a:p>
                      <a:pPr marL="0" lvl="0" indent="0" algn="l" rtl="0">
                        <a:spcBef>
                          <a:spcPts val="0"/>
                        </a:spcBef>
                        <a:spcAft>
                          <a:spcPts val="0"/>
                        </a:spcAft>
                        <a:buNone/>
                      </a:pPr>
                      <a:r>
                        <a:rPr lang="en" sz="1100"/>
                        <a:t>Strongest predictor; smokers incur approximately </a:t>
                      </a:r>
                      <a:r>
                        <a:rPr lang="en" sz="1100" b="1"/>
                        <a:t>$23,849</a:t>
                      </a:r>
                      <a:r>
                        <a:rPr lang="en" sz="1100"/>
                        <a:t> higher medical costs.</a:t>
                      </a:r>
                      <a:endParaRPr sz="1100"/>
                    </a:p>
                  </a:txBody>
                  <a:tcPr marL="91425" marR="91425" marT="91425" marB="91425"/>
                </a:tc>
                <a:extLst>
                  <a:ext uri="{0D108BD9-81ED-4DB2-BD59-A6C34878D82A}">
                    <a16:rowId xmlns:a16="http://schemas.microsoft.com/office/drawing/2014/main" val="10001"/>
                  </a:ext>
                </a:extLst>
              </a:tr>
              <a:tr h="392325">
                <a:tc>
                  <a:txBody>
                    <a:bodyPr/>
                    <a:lstStyle/>
                    <a:p>
                      <a:pPr marL="0" lvl="0" indent="0" algn="l" rtl="0">
                        <a:spcBef>
                          <a:spcPts val="0"/>
                        </a:spcBef>
                        <a:spcAft>
                          <a:spcPts val="0"/>
                        </a:spcAft>
                        <a:buNone/>
                      </a:pPr>
                      <a:r>
                        <a:rPr lang="en" sz="1100" b="1"/>
                        <a:t>Age</a:t>
                      </a:r>
                      <a:endParaRPr sz="1100" b="1"/>
                    </a:p>
                  </a:txBody>
                  <a:tcPr marL="91425" marR="91425" marT="91425" marB="91425"/>
                </a:tc>
                <a:tc>
                  <a:txBody>
                    <a:bodyPr/>
                    <a:lstStyle/>
                    <a:p>
                      <a:pPr marL="0" lvl="0" indent="0" algn="l" rtl="0">
                        <a:spcBef>
                          <a:spcPts val="0"/>
                        </a:spcBef>
                        <a:spcAft>
                          <a:spcPts val="0"/>
                        </a:spcAft>
                        <a:buNone/>
                      </a:pPr>
                      <a:r>
                        <a:rPr lang="en" sz="1100" b="1"/>
                        <a:t>256.86</a:t>
                      </a:r>
                      <a:endParaRPr sz="1100" b="1"/>
                    </a:p>
                  </a:txBody>
                  <a:tcPr marL="91425" marR="91425" marT="91425" marB="91425"/>
                </a:tc>
                <a:tc>
                  <a:txBody>
                    <a:bodyPr/>
                    <a:lstStyle/>
                    <a:p>
                      <a:pPr marL="0" lvl="0" indent="0" algn="l" rtl="0">
                        <a:spcBef>
                          <a:spcPts val="0"/>
                        </a:spcBef>
                        <a:spcAft>
                          <a:spcPts val="0"/>
                        </a:spcAft>
                        <a:buNone/>
                      </a:pPr>
                      <a:r>
                        <a:rPr lang="en" sz="1100" b="1"/>
                        <a:t>&lt;0.001</a:t>
                      </a:r>
                      <a:endParaRPr sz="1100" b="1"/>
                    </a:p>
                  </a:txBody>
                  <a:tcPr marL="91425" marR="91425" marT="91425" marB="91425"/>
                </a:tc>
                <a:tc>
                  <a:txBody>
                    <a:bodyPr/>
                    <a:lstStyle/>
                    <a:p>
                      <a:pPr marL="0" lvl="0" indent="0" algn="l" rtl="0">
                        <a:spcBef>
                          <a:spcPts val="0"/>
                        </a:spcBef>
                        <a:spcAft>
                          <a:spcPts val="0"/>
                        </a:spcAft>
                        <a:buNone/>
                      </a:pPr>
                      <a:r>
                        <a:rPr lang="en" sz="1100"/>
                        <a:t>Each additional year increases expected charges by about </a:t>
                      </a:r>
                      <a:r>
                        <a:rPr lang="en" sz="1100" b="1"/>
                        <a:t>$257</a:t>
                      </a:r>
                      <a:r>
                        <a:rPr lang="en" sz="1100"/>
                        <a:t>.</a:t>
                      </a:r>
                      <a:endParaRPr sz="1100"/>
                    </a:p>
                  </a:txBody>
                  <a:tcPr marL="91425" marR="91425" marT="91425" marB="91425"/>
                </a:tc>
                <a:extLst>
                  <a:ext uri="{0D108BD9-81ED-4DB2-BD59-A6C34878D82A}">
                    <a16:rowId xmlns:a16="http://schemas.microsoft.com/office/drawing/2014/main" val="10002"/>
                  </a:ext>
                </a:extLst>
              </a:tr>
              <a:tr h="392325">
                <a:tc>
                  <a:txBody>
                    <a:bodyPr/>
                    <a:lstStyle/>
                    <a:p>
                      <a:pPr marL="0" lvl="0" indent="0" algn="l" rtl="0">
                        <a:spcBef>
                          <a:spcPts val="0"/>
                        </a:spcBef>
                        <a:spcAft>
                          <a:spcPts val="0"/>
                        </a:spcAft>
                        <a:buNone/>
                      </a:pPr>
                      <a:r>
                        <a:rPr lang="en" sz="1100" b="1"/>
                        <a:t>BMI</a:t>
                      </a:r>
                      <a:endParaRPr sz="1100" b="1"/>
                    </a:p>
                  </a:txBody>
                  <a:tcPr marL="91425" marR="91425" marT="91425" marB="91425"/>
                </a:tc>
                <a:tc>
                  <a:txBody>
                    <a:bodyPr/>
                    <a:lstStyle/>
                    <a:p>
                      <a:pPr marL="0" lvl="0" indent="0" algn="l" rtl="0">
                        <a:spcBef>
                          <a:spcPts val="0"/>
                        </a:spcBef>
                        <a:spcAft>
                          <a:spcPts val="0"/>
                        </a:spcAft>
                        <a:buNone/>
                      </a:pPr>
                      <a:r>
                        <a:rPr lang="en" sz="1100" b="1"/>
                        <a:t>339.19</a:t>
                      </a:r>
                      <a:endParaRPr sz="1100" b="1"/>
                    </a:p>
                  </a:txBody>
                  <a:tcPr marL="91425" marR="91425" marT="91425" marB="91425"/>
                </a:tc>
                <a:tc>
                  <a:txBody>
                    <a:bodyPr/>
                    <a:lstStyle/>
                    <a:p>
                      <a:pPr marL="0" lvl="0" indent="0" algn="l" rtl="0">
                        <a:spcBef>
                          <a:spcPts val="0"/>
                        </a:spcBef>
                        <a:spcAft>
                          <a:spcPts val="0"/>
                        </a:spcAft>
                        <a:buNone/>
                      </a:pPr>
                      <a:r>
                        <a:rPr lang="en" sz="1100" b="1"/>
                        <a:t>&lt;0.001</a:t>
                      </a:r>
                      <a:endParaRPr sz="1100" b="1"/>
                    </a:p>
                  </a:txBody>
                  <a:tcPr marL="91425" marR="91425" marT="91425" marB="91425"/>
                </a:tc>
                <a:tc>
                  <a:txBody>
                    <a:bodyPr/>
                    <a:lstStyle/>
                    <a:p>
                      <a:pPr marL="0" lvl="0" indent="0" algn="l" rtl="0">
                        <a:spcBef>
                          <a:spcPts val="0"/>
                        </a:spcBef>
                        <a:spcAft>
                          <a:spcPts val="0"/>
                        </a:spcAft>
                        <a:buNone/>
                      </a:pPr>
                      <a:r>
                        <a:rPr lang="en" sz="1100"/>
                        <a:t>Each one-point increase in BMI increases costs by approximately </a:t>
                      </a:r>
                      <a:r>
                        <a:rPr lang="en" sz="1100" b="1"/>
                        <a:t>$339</a:t>
                      </a:r>
                      <a:r>
                        <a:rPr lang="en" sz="1100"/>
                        <a:t>.</a:t>
                      </a:r>
                      <a:endParaRPr sz="1100"/>
                    </a:p>
                  </a:txBody>
                  <a:tcPr marL="91425" marR="91425" marT="91425" marB="91425"/>
                </a:tc>
                <a:extLst>
                  <a:ext uri="{0D108BD9-81ED-4DB2-BD59-A6C34878D82A}">
                    <a16:rowId xmlns:a16="http://schemas.microsoft.com/office/drawing/2014/main" val="10003"/>
                  </a:ext>
                </a:extLst>
              </a:tr>
              <a:tr h="392325">
                <a:tc>
                  <a:txBody>
                    <a:bodyPr/>
                    <a:lstStyle/>
                    <a:p>
                      <a:pPr marL="0" lvl="0" indent="0" algn="l" rtl="0">
                        <a:spcBef>
                          <a:spcPts val="0"/>
                        </a:spcBef>
                        <a:spcAft>
                          <a:spcPts val="0"/>
                        </a:spcAft>
                        <a:buNone/>
                      </a:pPr>
                      <a:r>
                        <a:rPr lang="en" sz="1100" b="1"/>
                        <a:t>Children</a:t>
                      </a:r>
                      <a:endParaRPr sz="1100" b="1"/>
                    </a:p>
                  </a:txBody>
                  <a:tcPr marL="91425" marR="91425" marT="91425" marB="91425"/>
                </a:tc>
                <a:tc>
                  <a:txBody>
                    <a:bodyPr/>
                    <a:lstStyle/>
                    <a:p>
                      <a:pPr marL="0" lvl="0" indent="0" algn="l" rtl="0">
                        <a:spcBef>
                          <a:spcPts val="0"/>
                        </a:spcBef>
                        <a:spcAft>
                          <a:spcPts val="0"/>
                        </a:spcAft>
                        <a:buNone/>
                      </a:pPr>
                      <a:r>
                        <a:rPr lang="en" sz="1100" b="1"/>
                        <a:t>475.50</a:t>
                      </a:r>
                      <a:endParaRPr sz="1100" b="1"/>
                    </a:p>
                  </a:txBody>
                  <a:tcPr marL="91425" marR="91425" marT="91425" marB="91425"/>
                </a:tc>
                <a:tc>
                  <a:txBody>
                    <a:bodyPr/>
                    <a:lstStyle/>
                    <a:p>
                      <a:pPr marL="0" lvl="0" indent="0" algn="l" rtl="0">
                        <a:spcBef>
                          <a:spcPts val="0"/>
                        </a:spcBef>
                        <a:spcAft>
                          <a:spcPts val="0"/>
                        </a:spcAft>
                        <a:buNone/>
                      </a:pPr>
                      <a:r>
                        <a:rPr lang="en" sz="1100" b="1"/>
                        <a:t>&lt;0.001</a:t>
                      </a:r>
                      <a:endParaRPr sz="1100" b="1"/>
                    </a:p>
                  </a:txBody>
                  <a:tcPr marL="91425" marR="91425" marT="91425" marB="91425"/>
                </a:tc>
                <a:tc>
                  <a:txBody>
                    <a:bodyPr/>
                    <a:lstStyle/>
                    <a:p>
                      <a:pPr marL="0" lvl="0" indent="0" algn="l" rtl="0">
                        <a:spcBef>
                          <a:spcPts val="0"/>
                        </a:spcBef>
                        <a:spcAft>
                          <a:spcPts val="0"/>
                        </a:spcAft>
                        <a:buNone/>
                      </a:pPr>
                      <a:r>
                        <a:rPr lang="en" sz="1100"/>
                        <a:t>Each additional child increases expected charges by about </a:t>
                      </a:r>
                      <a:r>
                        <a:rPr lang="en" sz="1100" b="1"/>
                        <a:t>$476</a:t>
                      </a:r>
                      <a:r>
                        <a:rPr lang="en" sz="1100"/>
                        <a:t>.</a:t>
                      </a:r>
                      <a:endParaRPr sz="1100"/>
                    </a:p>
                  </a:txBody>
                  <a:tcPr marL="91425" marR="91425" marT="91425" marB="91425"/>
                </a:tc>
                <a:extLst>
                  <a:ext uri="{0D108BD9-81ED-4DB2-BD59-A6C34878D82A}">
                    <a16:rowId xmlns:a16="http://schemas.microsoft.com/office/drawing/2014/main" val="10004"/>
                  </a:ext>
                </a:extLst>
              </a:tr>
              <a:tr h="434500">
                <a:tc>
                  <a:txBody>
                    <a:bodyPr/>
                    <a:lstStyle/>
                    <a:p>
                      <a:pPr marL="0" lvl="0" indent="0" algn="l" rtl="0">
                        <a:spcBef>
                          <a:spcPts val="0"/>
                        </a:spcBef>
                        <a:spcAft>
                          <a:spcPts val="0"/>
                        </a:spcAft>
                        <a:buNone/>
                      </a:pPr>
                      <a:r>
                        <a:rPr lang="en" sz="1100" b="1"/>
                        <a:t>Female</a:t>
                      </a:r>
                      <a:endParaRPr sz="1100" b="1"/>
                    </a:p>
                  </a:txBody>
                  <a:tcPr marL="91425" marR="91425" marT="91425" marB="91425"/>
                </a:tc>
                <a:tc>
                  <a:txBody>
                    <a:bodyPr/>
                    <a:lstStyle/>
                    <a:p>
                      <a:pPr marL="0" lvl="0" indent="0" algn="l" rtl="0">
                        <a:spcBef>
                          <a:spcPts val="0"/>
                        </a:spcBef>
                        <a:spcAft>
                          <a:spcPts val="0"/>
                        </a:spcAft>
                        <a:buNone/>
                      </a:pPr>
                      <a:r>
                        <a:rPr lang="en"/>
                        <a:t>131.31</a:t>
                      </a:r>
                      <a:endParaRPr/>
                    </a:p>
                  </a:txBody>
                  <a:tcPr marL="91425" marR="91425" marT="91425" marB="91425"/>
                </a:tc>
                <a:tc>
                  <a:txBody>
                    <a:bodyPr/>
                    <a:lstStyle/>
                    <a:p>
                      <a:pPr marL="0" lvl="0" indent="0" algn="l" rtl="0">
                        <a:spcBef>
                          <a:spcPts val="0"/>
                        </a:spcBef>
                        <a:spcAft>
                          <a:spcPts val="0"/>
                        </a:spcAft>
                        <a:buNone/>
                      </a:pPr>
                      <a:r>
                        <a:rPr lang="en"/>
                        <a:t>0.693</a:t>
                      </a:r>
                      <a:endParaRPr/>
                    </a:p>
                  </a:txBody>
                  <a:tcPr marL="91425" marR="91425" marT="91425" marB="91425"/>
                </a:tc>
                <a:tc>
                  <a:txBody>
                    <a:bodyPr/>
                    <a:lstStyle/>
                    <a:p>
                      <a:pPr marL="0" lvl="0" indent="0" algn="l" rtl="0">
                        <a:spcBef>
                          <a:spcPts val="0"/>
                        </a:spcBef>
                        <a:spcAft>
                          <a:spcPts val="0"/>
                        </a:spcAft>
                        <a:buNone/>
                      </a:pPr>
                      <a:r>
                        <a:rPr lang="en"/>
                        <a:t>Not statistically significant.</a:t>
                      </a:r>
                      <a:endParaRPr/>
                    </a:p>
                  </a:txBody>
                  <a:tcPr marL="91425" marR="91425" marT="91425" marB="91425"/>
                </a:tc>
                <a:extLst>
                  <a:ext uri="{0D108BD9-81ED-4DB2-BD59-A6C34878D82A}">
                    <a16:rowId xmlns:a16="http://schemas.microsoft.com/office/drawing/2014/main" val="10005"/>
                  </a:ext>
                </a:extLst>
              </a:tr>
              <a:tr h="434500">
                <a:tc>
                  <a:txBody>
                    <a:bodyPr/>
                    <a:lstStyle/>
                    <a:p>
                      <a:pPr marL="0" lvl="0" indent="0" algn="l" rtl="0">
                        <a:spcBef>
                          <a:spcPts val="0"/>
                        </a:spcBef>
                        <a:spcAft>
                          <a:spcPts val="0"/>
                        </a:spcAft>
                        <a:buNone/>
                      </a:pPr>
                      <a:r>
                        <a:rPr lang="en" sz="1100" b="1"/>
                        <a:t>Southwest</a:t>
                      </a:r>
                      <a:endParaRPr sz="1100" b="1"/>
                    </a:p>
                  </a:txBody>
                  <a:tcPr marL="91425" marR="91425" marT="91425" marB="91425"/>
                </a:tc>
                <a:tc>
                  <a:txBody>
                    <a:bodyPr/>
                    <a:lstStyle/>
                    <a:p>
                      <a:pPr marL="0" lvl="0" indent="0" algn="l" rtl="0">
                        <a:spcBef>
                          <a:spcPts val="0"/>
                        </a:spcBef>
                        <a:spcAft>
                          <a:spcPts val="0"/>
                        </a:spcAft>
                        <a:buNone/>
                      </a:pPr>
                      <a:r>
                        <a:rPr lang="en"/>
                        <a:t>74.97</a:t>
                      </a:r>
                      <a:endParaRPr/>
                    </a:p>
                  </a:txBody>
                  <a:tcPr marL="91425" marR="91425" marT="91425" marB="91425"/>
                </a:tc>
                <a:tc>
                  <a:txBody>
                    <a:bodyPr/>
                    <a:lstStyle/>
                    <a:p>
                      <a:pPr marL="0" lvl="0" indent="0" algn="l" rtl="0">
                        <a:spcBef>
                          <a:spcPts val="0"/>
                        </a:spcBef>
                        <a:spcAft>
                          <a:spcPts val="0"/>
                        </a:spcAft>
                        <a:buNone/>
                      </a:pPr>
                      <a:r>
                        <a:rPr lang="en"/>
                        <a:t>0.873</a:t>
                      </a:r>
                      <a:endParaRPr/>
                    </a:p>
                  </a:txBody>
                  <a:tcPr marL="91425" marR="91425" marT="91425" marB="91425"/>
                </a:tc>
                <a:tc>
                  <a:txBody>
                    <a:bodyPr/>
                    <a:lstStyle/>
                    <a:p>
                      <a:pPr marL="0" lvl="0" indent="0" algn="l" rtl="0">
                        <a:spcBef>
                          <a:spcPts val="0"/>
                        </a:spcBef>
                        <a:spcAft>
                          <a:spcPts val="0"/>
                        </a:spcAft>
                        <a:buNone/>
                      </a:pPr>
                      <a:r>
                        <a:rPr lang="en"/>
                        <a:t>Not statistically significant.</a:t>
                      </a:r>
                      <a:endParaRPr/>
                    </a:p>
                  </a:txBody>
                  <a:tcPr marL="91425" marR="91425" marT="91425" marB="91425"/>
                </a:tc>
                <a:extLst>
                  <a:ext uri="{0D108BD9-81ED-4DB2-BD59-A6C34878D82A}">
                    <a16:rowId xmlns:a16="http://schemas.microsoft.com/office/drawing/2014/main" val="10006"/>
                  </a:ext>
                </a:extLst>
              </a:tr>
              <a:tr h="434500">
                <a:tc>
                  <a:txBody>
                    <a:bodyPr/>
                    <a:lstStyle/>
                    <a:p>
                      <a:pPr marL="0" lvl="0" indent="0" algn="l" rtl="0">
                        <a:spcBef>
                          <a:spcPts val="0"/>
                        </a:spcBef>
                        <a:spcAft>
                          <a:spcPts val="0"/>
                        </a:spcAft>
                        <a:buNone/>
                      </a:pPr>
                      <a:r>
                        <a:rPr lang="en" sz="1100" b="1"/>
                        <a:t>Northwest</a:t>
                      </a:r>
                      <a:endParaRPr sz="1100" b="1"/>
                    </a:p>
                  </a:txBody>
                  <a:tcPr marL="91425" marR="91425" marT="91425" marB="91425"/>
                </a:tc>
                <a:tc>
                  <a:txBody>
                    <a:bodyPr/>
                    <a:lstStyle/>
                    <a:p>
                      <a:pPr marL="0" lvl="0" indent="0" algn="l" rtl="0">
                        <a:spcBef>
                          <a:spcPts val="0"/>
                        </a:spcBef>
                        <a:spcAft>
                          <a:spcPts val="0"/>
                        </a:spcAft>
                        <a:buNone/>
                      </a:pPr>
                      <a:r>
                        <a:rPr lang="en"/>
                        <a:t>682.06</a:t>
                      </a:r>
                      <a:endParaRPr/>
                    </a:p>
                  </a:txBody>
                  <a:tcPr marL="91425" marR="91425" marT="91425" marB="91425"/>
                </a:tc>
                <a:tc>
                  <a:txBody>
                    <a:bodyPr/>
                    <a:lstStyle/>
                    <a:p>
                      <a:pPr marL="0" lvl="0" indent="0" algn="l" rtl="0">
                        <a:spcBef>
                          <a:spcPts val="0"/>
                        </a:spcBef>
                        <a:spcAft>
                          <a:spcPts val="0"/>
                        </a:spcAft>
                        <a:buNone/>
                      </a:pPr>
                      <a:r>
                        <a:rPr lang="en"/>
                        <a:t>0.155</a:t>
                      </a:r>
                      <a:endParaRPr/>
                    </a:p>
                  </a:txBody>
                  <a:tcPr marL="91425" marR="91425" marT="91425" marB="91425"/>
                </a:tc>
                <a:tc>
                  <a:txBody>
                    <a:bodyPr/>
                    <a:lstStyle/>
                    <a:p>
                      <a:pPr marL="0" lvl="0" indent="0" algn="l" rtl="0">
                        <a:spcBef>
                          <a:spcPts val="0"/>
                        </a:spcBef>
                        <a:spcAft>
                          <a:spcPts val="0"/>
                        </a:spcAft>
                        <a:buNone/>
                      </a:pPr>
                      <a:r>
                        <a:rPr lang="en"/>
                        <a:t>Not statistically significant.</a:t>
                      </a:r>
                      <a:endParaRPr/>
                    </a:p>
                  </a:txBody>
                  <a:tcPr marL="91425" marR="91425" marT="91425" marB="91425"/>
                </a:tc>
                <a:extLst>
                  <a:ext uri="{0D108BD9-81ED-4DB2-BD59-A6C34878D82A}">
                    <a16:rowId xmlns:a16="http://schemas.microsoft.com/office/drawing/2014/main" val="10007"/>
                  </a:ext>
                </a:extLst>
              </a:tr>
              <a:tr h="434500">
                <a:tc>
                  <a:txBody>
                    <a:bodyPr/>
                    <a:lstStyle/>
                    <a:p>
                      <a:pPr marL="0" lvl="0" indent="0" algn="l" rtl="0">
                        <a:spcBef>
                          <a:spcPts val="0"/>
                        </a:spcBef>
                        <a:spcAft>
                          <a:spcPts val="0"/>
                        </a:spcAft>
                        <a:buNone/>
                      </a:pPr>
                      <a:r>
                        <a:rPr lang="en" sz="1100" b="1"/>
                        <a:t>Northeast</a:t>
                      </a:r>
                      <a:endParaRPr sz="1100" b="1"/>
                    </a:p>
                  </a:txBody>
                  <a:tcPr marL="91425" marR="91425" marT="91425" marB="91425"/>
                </a:tc>
                <a:tc>
                  <a:txBody>
                    <a:bodyPr/>
                    <a:lstStyle/>
                    <a:p>
                      <a:pPr marL="0" lvl="0" indent="0" algn="l" rtl="0">
                        <a:spcBef>
                          <a:spcPts val="0"/>
                        </a:spcBef>
                        <a:spcAft>
                          <a:spcPts val="0"/>
                        </a:spcAft>
                        <a:buNone/>
                      </a:pPr>
                      <a:r>
                        <a:rPr lang="en"/>
                        <a:t>1035.02</a:t>
                      </a:r>
                      <a:endParaRPr/>
                    </a:p>
                  </a:txBody>
                  <a:tcPr marL="91425" marR="91425" marT="91425" marB="91425"/>
                </a:tc>
                <a:tc>
                  <a:txBody>
                    <a:bodyPr/>
                    <a:lstStyle/>
                    <a:p>
                      <a:pPr marL="0" lvl="0" indent="0" algn="l" rtl="0">
                        <a:spcBef>
                          <a:spcPts val="0"/>
                        </a:spcBef>
                        <a:spcAft>
                          <a:spcPts val="0"/>
                        </a:spcAft>
                        <a:buNone/>
                      </a:pPr>
                      <a:r>
                        <a:rPr lang="en"/>
                        <a:t>0.031</a:t>
                      </a:r>
                      <a:endParaRPr/>
                    </a:p>
                  </a:txBody>
                  <a:tcPr marL="91425" marR="91425" marT="91425" marB="91425"/>
                </a:tc>
                <a:tc>
                  <a:txBody>
                    <a:bodyPr/>
                    <a:lstStyle/>
                    <a:p>
                      <a:pPr marL="0" lvl="0" indent="0" algn="l" rtl="0">
                        <a:spcBef>
                          <a:spcPts val="0"/>
                        </a:spcBef>
                        <a:spcAft>
                          <a:spcPts val="0"/>
                        </a:spcAft>
                        <a:buNone/>
                      </a:pPr>
                      <a:r>
                        <a:rPr lang="en"/>
                        <a:t>Small but statistically significant effect.</a:t>
                      </a:r>
                      <a:endParaRPr/>
                    </a:p>
                  </a:txBody>
                  <a:tcPr marL="91425" marR="91425" marT="91425" marB="91425"/>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p:nvPr/>
        </p:nvSpPr>
        <p:spPr>
          <a:xfrm>
            <a:off x="529175" y="1608650"/>
            <a:ext cx="8724900" cy="188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500" b="1">
                <a:solidFill>
                  <a:schemeClr val="dk2"/>
                </a:solidFill>
              </a:rPr>
              <a:t>Key Business Takeaways</a:t>
            </a:r>
            <a:endParaRPr sz="1300" b="1">
              <a:solidFill>
                <a:schemeClr val="dk1"/>
              </a:solidFill>
            </a:endParaRPr>
          </a:p>
          <a:p>
            <a:pPr marL="457200" marR="0" lvl="0" indent="-342900" algn="l" rtl="0">
              <a:lnSpc>
                <a:spcPct val="100000"/>
              </a:lnSpc>
              <a:spcBef>
                <a:spcPts val="400"/>
              </a:spcBef>
              <a:spcAft>
                <a:spcPts val="0"/>
              </a:spcAft>
              <a:buClr>
                <a:schemeClr val="dk2"/>
              </a:buClr>
              <a:buSzPts val="1800"/>
              <a:buAutoNum type="arabicPeriod"/>
            </a:pPr>
            <a:r>
              <a:rPr lang="en" sz="1800">
                <a:solidFill>
                  <a:schemeClr val="dk2"/>
                </a:solidFill>
              </a:rPr>
              <a:t>🚭 Smoking status is the largest driver of medical expenses.</a:t>
            </a:r>
            <a:endParaRPr sz="1800">
              <a:solidFill>
                <a:schemeClr val="dk2"/>
              </a:solidFill>
            </a:endParaRPr>
          </a:p>
          <a:p>
            <a:pPr marL="457200" marR="0" lvl="0" indent="-342900" algn="l" rtl="0">
              <a:lnSpc>
                <a:spcPct val="100000"/>
              </a:lnSpc>
              <a:spcBef>
                <a:spcPts val="0"/>
              </a:spcBef>
              <a:spcAft>
                <a:spcPts val="0"/>
              </a:spcAft>
              <a:buClr>
                <a:schemeClr val="dk2"/>
              </a:buClr>
              <a:buSzPts val="1800"/>
              <a:buAutoNum type="arabicPeriod"/>
            </a:pPr>
            <a:r>
              <a:rPr lang="en" sz="1800">
                <a:solidFill>
                  <a:schemeClr val="dk2"/>
                </a:solidFill>
              </a:rPr>
              <a:t>📈 Age and BMI are strong predictors of increasing healthcare costs.</a:t>
            </a:r>
            <a:endParaRPr sz="1800">
              <a:solidFill>
                <a:schemeClr val="dk2"/>
              </a:solidFill>
            </a:endParaRPr>
          </a:p>
          <a:p>
            <a:pPr marL="457200" marR="0" lvl="0" indent="-342900" algn="l" rtl="0">
              <a:lnSpc>
                <a:spcPct val="100000"/>
              </a:lnSpc>
              <a:spcBef>
                <a:spcPts val="0"/>
              </a:spcBef>
              <a:spcAft>
                <a:spcPts val="0"/>
              </a:spcAft>
              <a:buClr>
                <a:schemeClr val="dk2"/>
              </a:buClr>
              <a:buSzPts val="1800"/>
              <a:buAutoNum type="arabicPeriod"/>
            </a:pPr>
            <a:r>
              <a:rPr lang="en" sz="1800">
                <a:solidFill>
                  <a:schemeClr val="dk2"/>
                </a:solidFill>
              </a:rPr>
              <a:t>👨‍👩‍👧 Number of children has a moderate positive effect.</a:t>
            </a:r>
            <a:endParaRPr sz="1800">
              <a:solidFill>
                <a:schemeClr val="dk2"/>
              </a:solidFill>
            </a:endParaRPr>
          </a:p>
          <a:p>
            <a:pPr marL="457200" marR="0" lvl="0" indent="-342900" algn="l" rtl="0">
              <a:lnSpc>
                <a:spcPct val="100000"/>
              </a:lnSpc>
              <a:spcBef>
                <a:spcPts val="0"/>
              </a:spcBef>
              <a:spcAft>
                <a:spcPts val="0"/>
              </a:spcAft>
              <a:buClr>
                <a:schemeClr val="dk2"/>
              </a:buClr>
              <a:buSzPts val="1800"/>
              <a:buAutoNum type="arabicPeriod"/>
            </a:pPr>
            <a:r>
              <a:rPr lang="en" sz="1800">
                <a:solidFill>
                  <a:schemeClr val="dk2"/>
                </a:solidFill>
              </a:rPr>
              <a:t>⚖️ Gender and most regions do not significantly affect medical charges after accounting for other variables.</a:t>
            </a: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573</Words>
  <Application>Microsoft Office PowerPoint</Application>
  <PresentationFormat>On-screen Show (16:9)</PresentationFormat>
  <Paragraphs>121</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What is Multiple Linear Regression? Multiple Linear Regression is a statistical technique used to predict a continuous outcome by analyzing the relationship between one dependent variable and multiple independent variables. Purpose of this Model Predict Medical Charges based on: Age BMI (Body Mass Index) Number of Children Gender Smoking Status Region Regression Equation Medical Charges=β0+β1(Age)+β2(BMI)+β3(Children)+β4(Gender)+β5(Smoker)+β6(Region)\text{Medical Charges)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Raisa Basher</cp:lastModifiedBy>
  <cp:revision>2</cp:revision>
  <dcterms:modified xsi:type="dcterms:W3CDTF">2026-06-28T03:35:06Z</dcterms:modified>
</cp:coreProperties>
</file>